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Fira Mono Medium"/>
      <p:regular r:id="rId17"/>
    </p:embeddedFont>
    <p:embeddedFont>
      <p:font typeface="Fira Mono Medium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42732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Sistema Inteligente de Busca e Comparação de Preços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8938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Cesta Básica - Solução para Economia Familiar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511879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UNOESC • Sistemas de Informação • Chapecó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59368"/>
            <a:ext cx="6786920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Contexto e Relevância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633" y="1662470"/>
            <a:ext cx="323136" cy="3231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93996" y="1655921"/>
            <a:ext cx="290738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Problema Econômico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493996" y="2121694"/>
            <a:ext cx="68562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flutuação constante de preços e a inflação dos alimentos impactam diretamente o poder de compra das famílias.</a:t>
            </a:r>
            <a:endParaRPr lang="en-US" sz="16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633" y="3248739"/>
            <a:ext cx="323136" cy="3231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93996" y="3242191"/>
            <a:ext cx="436114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Comportamento do Consumidor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1493996" y="3707963"/>
            <a:ext cx="68562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Consumidores dedicam tempo excessivo na pesquisa manual de preços, um processo ineficiente e desgastante.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4633" y="4835009"/>
            <a:ext cx="323136" cy="3231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93996" y="4828461"/>
            <a:ext cx="371498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Oportunidade de Mercado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1493996" y="5294233"/>
            <a:ext cx="68562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Há uma lacuna no mercado por plataformas integradas e eficientes que centralizem as informações de preços.</a:t>
            </a:r>
            <a:endParaRPr lang="en-US" sz="16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4633" y="6421279"/>
            <a:ext cx="323136" cy="32313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93996" y="6414730"/>
            <a:ext cx="419957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Realidade Local em Chapecó</a:t>
            </a:r>
            <a:endParaRPr lang="en-US" sz="2100" dirty="0"/>
          </a:p>
        </p:txBody>
      </p:sp>
      <p:sp>
        <p:nvSpPr>
          <p:cNvPr id="16" name="Text 9"/>
          <p:cNvSpPr/>
          <p:nvPr/>
        </p:nvSpPr>
        <p:spPr>
          <a:xfrm>
            <a:off x="1493996" y="6880503"/>
            <a:ext cx="68562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Pesquisas recentes indicam um aumento significativo nos custos da cesta básica, evidenciando a necessidade urgente de uma solução.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385655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85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5813" y="3003828"/>
            <a:ext cx="9446300" cy="596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Fundamentação Teórica e Normativa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7303770" y="3886557"/>
            <a:ext cx="22860" cy="3724751"/>
          </a:xfrm>
          <a:prstGeom prst="roundRect">
            <a:avLst>
              <a:gd name="adj" fmla="val 125236"/>
            </a:avLst>
          </a:prstGeom>
          <a:solidFill>
            <a:srgbClr val="474748"/>
          </a:solidFill>
          <a:ln/>
        </p:spPr>
      </p:sp>
      <p:sp>
        <p:nvSpPr>
          <p:cNvPr id="6" name="Shape 3"/>
          <p:cNvSpPr/>
          <p:nvPr/>
        </p:nvSpPr>
        <p:spPr>
          <a:xfrm>
            <a:off x="6550819" y="4089797"/>
            <a:ext cx="572572" cy="22860"/>
          </a:xfrm>
          <a:prstGeom prst="roundRect">
            <a:avLst>
              <a:gd name="adj" fmla="val 125236"/>
            </a:avLst>
          </a:prstGeom>
          <a:solidFill>
            <a:srgbClr val="474748"/>
          </a:solidFill>
          <a:ln/>
        </p:spPr>
      </p:sp>
      <p:sp>
        <p:nvSpPr>
          <p:cNvPr id="7" name="Shape 4"/>
          <p:cNvSpPr/>
          <p:nvPr/>
        </p:nvSpPr>
        <p:spPr>
          <a:xfrm>
            <a:off x="7100530" y="3886557"/>
            <a:ext cx="429339" cy="429339"/>
          </a:xfrm>
          <a:prstGeom prst="roundRect">
            <a:avLst>
              <a:gd name="adj" fmla="val 6668"/>
            </a:avLst>
          </a:prstGeom>
          <a:solidFill>
            <a:srgbClr val="2E2E2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2087" y="3958054"/>
            <a:ext cx="286226" cy="2862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99009" y="3952161"/>
            <a:ext cx="2861905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Base Legal Histórica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785813" y="4364831"/>
            <a:ext cx="5575102" cy="61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Decreto-Lei 399/1938 estabelece a Cesta Básica com 13 itens essenciais, ainda hoje relevante para monitoramento.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507010" y="5234940"/>
            <a:ext cx="572572" cy="22860"/>
          </a:xfrm>
          <a:prstGeom prst="roundRect">
            <a:avLst>
              <a:gd name="adj" fmla="val 125236"/>
            </a:avLst>
          </a:prstGeom>
          <a:solidFill>
            <a:srgbClr val="474748"/>
          </a:solidFill>
          <a:ln/>
        </p:spPr>
      </p:sp>
      <p:sp>
        <p:nvSpPr>
          <p:cNvPr id="12" name="Shape 8"/>
          <p:cNvSpPr/>
          <p:nvPr/>
        </p:nvSpPr>
        <p:spPr>
          <a:xfrm>
            <a:off x="7100530" y="5031700"/>
            <a:ext cx="429339" cy="429339"/>
          </a:xfrm>
          <a:prstGeom prst="roundRect">
            <a:avLst>
              <a:gd name="adj" fmla="val 6668"/>
            </a:avLst>
          </a:prstGeom>
          <a:solidFill>
            <a:srgbClr val="2E2E2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2087" y="5103197"/>
            <a:ext cx="286226" cy="2862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69486" y="5097304"/>
            <a:ext cx="2385655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Padrão DIEESE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69486" y="5509974"/>
            <a:ext cx="5575102" cy="91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Compatibilidade com a metodologia do DIEESE para cálculo e monitoramento da Cesta Básica, garantindo precisão e relevância.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550819" y="6221968"/>
            <a:ext cx="572572" cy="22860"/>
          </a:xfrm>
          <a:prstGeom prst="roundRect">
            <a:avLst>
              <a:gd name="adj" fmla="val 125236"/>
            </a:avLst>
          </a:prstGeom>
          <a:solidFill>
            <a:srgbClr val="474748"/>
          </a:solidFill>
          <a:ln/>
        </p:spPr>
      </p:sp>
      <p:sp>
        <p:nvSpPr>
          <p:cNvPr id="17" name="Shape 12"/>
          <p:cNvSpPr/>
          <p:nvPr/>
        </p:nvSpPr>
        <p:spPr>
          <a:xfrm>
            <a:off x="7100530" y="6018728"/>
            <a:ext cx="429339" cy="429339"/>
          </a:xfrm>
          <a:prstGeom prst="roundRect">
            <a:avLst>
              <a:gd name="adj" fmla="val 6668"/>
            </a:avLst>
          </a:prstGeom>
          <a:solidFill>
            <a:srgbClr val="2E2E2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2087" y="6090225"/>
            <a:ext cx="286226" cy="2862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785235" y="6084332"/>
            <a:ext cx="257567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Projetos Similares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785813" y="6497002"/>
            <a:ext cx="5575102" cy="61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Inspiração em iniciativas de doações e monitoramento econômico, adaptando o conceito para a comparação de preços.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0035"/>
            <a:ext cx="91850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O Problema: Desafios Atuais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39244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52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Tempo Gasto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01752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Comparações manuais demandam tempo excessivo, que poderia ser utilizado em outras atividades.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39244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2527102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Dados Descentralizados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3371850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Falta de uma plataforma única para dados de preços, forçando a busca em diversas fontes.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392442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2527102"/>
            <a:ext cx="3230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Múltiplos Critérios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3017520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decisão de compra é complexa, envolvendo preço, qualidade, marca e localização.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5057418"/>
            <a:ext cx="3230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Pouca Transparência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44253" y="5547836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Variações de preços em diferentes estabelecimentos dificultam a identificação da melhor oferta.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92275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86356" y="5057418"/>
            <a:ext cx="30605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Orçamento Limitado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086356" y="5547836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dificuldade em otimizar o orçamento impacta diretamente a saúde financeira familiar.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8327"/>
            <a:ext cx="1292744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Solução Proposta: Um Sistema Inteligente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2002631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Nosso sistema será acessível via </a:t>
            </a:r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aplicativo móvel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 </a:t>
            </a:r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website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oferecendo funcionalidades essenciais: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912983"/>
            <a:ext cx="4203978" cy="1939885"/>
          </a:xfrm>
          <a:prstGeom prst="roundRect">
            <a:avLst>
              <a:gd name="adj" fmla="val 7542"/>
            </a:avLst>
          </a:prstGeom>
          <a:solidFill>
            <a:srgbClr val="0F0F10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882503"/>
            <a:ext cx="4203978" cy="121920"/>
          </a:xfrm>
          <a:prstGeom prst="roundRect">
            <a:avLst>
              <a:gd name="adj" fmla="val 26512"/>
            </a:avLst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2572524" y="2589848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38BD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66477" y="2783681"/>
            <a:ext cx="258485" cy="2584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9654" y="3451622"/>
            <a:ext cx="290738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Busca Simplificada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39654" y="3917394"/>
            <a:ext cx="371225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Por nome ou código de barras, para encontrar produtos rapidamente.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213152" y="2912983"/>
            <a:ext cx="4203978" cy="1939885"/>
          </a:xfrm>
          <a:prstGeom prst="roundRect">
            <a:avLst>
              <a:gd name="adj" fmla="val 7542"/>
            </a:avLst>
          </a:prstGeom>
          <a:solidFill>
            <a:srgbClr val="0F0F10"/>
          </a:solidFill>
          <a:ln/>
        </p:spPr>
      </p:sp>
      <p:sp>
        <p:nvSpPr>
          <p:cNvPr id="11" name="Shape 8"/>
          <p:cNvSpPr/>
          <p:nvPr/>
        </p:nvSpPr>
        <p:spPr>
          <a:xfrm>
            <a:off x="5213152" y="2882503"/>
            <a:ext cx="4203978" cy="121920"/>
          </a:xfrm>
          <a:prstGeom prst="roundRect">
            <a:avLst>
              <a:gd name="adj" fmla="val 26512"/>
            </a:avLst>
          </a:prstGeom>
          <a:solidFill>
            <a:srgbClr val="38BDF8"/>
          </a:solidFill>
          <a:ln/>
        </p:spPr>
      </p:sp>
      <p:sp>
        <p:nvSpPr>
          <p:cNvPr id="12" name="Shape 9"/>
          <p:cNvSpPr/>
          <p:nvPr/>
        </p:nvSpPr>
        <p:spPr>
          <a:xfrm>
            <a:off x="6991886" y="2589848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38BD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5839" y="2783681"/>
            <a:ext cx="258485" cy="25848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9016" y="3451622"/>
            <a:ext cx="355353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Comparação Inteligente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5459016" y="3917394"/>
            <a:ext cx="371225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 tempo real, destacando as melhores ofertas disponíveis.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9632513" y="2912983"/>
            <a:ext cx="4203978" cy="1939885"/>
          </a:xfrm>
          <a:prstGeom prst="roundRect">
            <a:avLst>
              <a:gd name="adj" fmla="val 7542"/>
            </a:avLst>
          </a:prstGeom>
          <a:solidFill>
            <a:srgbClr val="0F0F10"/>
          </a:solidFill>
          <a:ln/>
        </p:spPr>
      </p:sp>
      <p:sp>
        <p:nvSpPr>
          <p:cNvPr id="17" name="Shape 13"/>
          <p:cNvSpPr/>
          <p:nvPr/>
        </p:nvSpPr>
        <p:spPr>
          <a:xfrm>
            <a:off x="9632513" y="2882503"/>
            <a:ext cx="4203978" cy="121920"/>
          </a:xfrm>
          <a:prstGeom prst="roundRect">
            <a:avLst>
              <a:gd name="adj" fmla="val 26512"/>
            </a:avLst>
          </a:prstGeom>
          <a:solidFill>
            <a:srgbClr val="38BDF8"/>
          </a:solidFill>
          <a:ln/>
        </p:spPr>
      </p:sp>
      <p:sp>
        <p:nvSpPr>
          <p:cNvPr id="18" name="Shape 14"/>
          <p:cNvSpPr/>
          <p:nvPr/>
        </p:nvSpPr>
        <p:spPr>
          <a:xfrm>
            <a:off x="11411248" y="2589848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38BD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5200" y="2783681"/>
            <a:ext cx="258485" cy="25848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78378" y="3451622"/>
            <a:ext cx="355353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Classificação Flexível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9878378" y="3917394"/>
            <a:ext cx="371225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Por preço, distância, marca ou promoções ativas.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793790" y="5391388"/>
            <a:ext cx="6413659" cy="1939885"/>
          </a:xfrm>
          <a:prstGeom prst="roundRect">
            <a:avLst>
              <a:gd name="adj" fmla="val 7542"/>
            </a:avLst>
          </a:prstGeom>
          <a:solidFill>
            <a:srgbClr val="0F0F10"/>
          </a:solidFill>
          <a:ln/>
        </p:spPr>
      </p:sp>
      <p:sp>
        <p:nvSpPr>
          <p:cNvPr id="23" name="Shape 18"/>
          <p:cNvSpPr/>
          <p:nvPr/>
        </p:nvSpPr>
        <p:spPr>
          <a:xfrm>
            <a:off x="793790" y="5360908"/>
            <a:ext cx="6413659" cy="121920"/>
          </a:xfrm>
          <a:prstGeom prst="roundRect">
            <a:avLst>
              <a:gd name="adj" fmla="val 26512"/>
            </a:avLst>
          </a:prstGeom>
          <a:solidFill>
            <a:srgbClr val="38BDF8"/>
          </a:solidFill>
          <a:ln/>
        </p:spPr>
      </p:sp>
      <p:sp>
        <p:nvSpPr>
          <p:cNvPr id="24" name="Shape 19"/>
          <p:cNvSpPr/>
          <p:nvPr/>
        </p:nvSpPr>
        <p:spPr>
          <a:xfrm>
            <a:off x="3677424" y="5068252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38BDF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71377" y="5262086"/>
            <a:ext cx="258485" cy="25848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9654" y="593002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Gestão de Listas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1039654" y="6395799"/>
            <a:ext cx="592193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Crie e organize suas listas de compras, otimizando o processo.</a:t>
            </a:r>
            <a:endParaRPr lang="en-US" sz="1650" dirty="0"/>
          </a:p>
        </p:txBody>
      </p:sp>
      <p:sp>
        <p:nvSpPr>
          <p:cNvPr id="28" name="Shape 22"/>
          <p:cNvSpPr/>
          <p:nvPr/>
        </p:nvSpPr>
        <p:spPr>
          <a:xfrm>
            <a:off x="7422833" y="5391388"/>
            <a:ext cx="6413659" cy="1939885"/>
          </a:xfrm>
          <a:prstGeom prst="roundRect">
            <a:avLst>
              <a:gd name="adj" fmla="val 7542"/>
            </a:avLst>
          </a:prstGeom>
          <a:solidFill>
            <a:srgbClr val="0F0F10"/>
          </a:solidFill>
          <a:ln/>
        </p:spPr>
      </p:sp>
      <p:sp>
        <p:nvSpPr>
          <p:cNvPr id="29" name="Shape 23"/>
          <p:cNvSpPr/>
          <p:nvPr/>
        </p:nvSpPr>
        <p:spPr>
          <a:xfrm>
            <a:off x="7422833" y="5360908"/>
            <a:ext cx="6413659" cy="121920"/>
          </a:xfrm>
          <a:prstGeom prst="roundRect">
            <a:avLst>
              <a:gd name="adj" fmla="val 26512"/>
            </a:avLst>
          </a:prstGeom>
          <a:solidFill>
            <a:srgbClr val="38BDF8"/>
          </a:solidFill>
          <a:ln/>
        </p:spPr>
      </p:sp>
      <p:sp>
        <p:nvSpPr>
          <p:cNvPr id="30" name="Shape 24"/>
          <p:cNvSpPr/>
          <p:nvPr/>
        </p:nvSpPr>
        <p:spPr>
          <a:xfrm>
            <a:off x="10306467" y="5068252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38BDF8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0420" y="5262086"/>
            <a:ext cx="258485" cy="25848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668697" y="5930027"/>
            <a:ext cx="436114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Notificações Personalizadas</a:t>
            </a:r>
            <a:endParaRPr lang="en-US" sz="2100" dirty="0"/>
          </a:p>
        </p:txBody>
      </p:sp>
      <p:sp>
        <p:nvSpPr>
          <p:cNvPr id="33" name="Text 26"/>
          <p:cNvSpPr/>
          <p:nvPr/>
        </p:nvSpPr>
        <p:spPr>
          <a:xfrm>
            <a:off x="7668697" y="6395799"/>
            <a:ext cx="592193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Alertas sobre quedas de preços e promoções relevantes para seus produtos.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835235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940612"/>
            <a:ext cx="108860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Requisitos Funcionais do Sistema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52163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Usuário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797510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Cadastro e autenticação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239708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Personalização de preferências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681907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Histórico de buscas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288161" y="52163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Sistema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88161" y="5797510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Coleta e atualização de dados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288161" y="6239708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Motor de comparação de preços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288161" y="6681907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Integração com APIs de varejistas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9782532" y="52163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Segurança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782532" y="5797510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Proteção de dados pessoais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782532" y="6239708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Criptografia de informações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782532" y="6681907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Auditoria de acessos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5357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Cenário de Uso: Fluxo do Usuário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293507"/>
            <a:ext cx="7556421" cy="34003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32086" y="3434732"/>
            <a:ext cx="1322341" cy="204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Login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932086" y="3697202"/>
            <a:ext cx="1322341" cy="326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Sign in to your account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50442" y="4361098"/>
            <a:ext cx="292895" cy="29289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39896" y="6066699"/>
            <a:ext cx="1329607" cy="20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Scan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3239896" y="6329170"/>
            <a:ext cx="1329607" cy="16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Scan product barcode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8252" y="5429142"/>
            <a:ext cx="292895" cy="29289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33174" y="3491041"/>
            <a:ext cx="1322341" cy="204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Search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533174" y="3753511"/>
            <a:ext cx="1322341" cy="163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Find items or details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73327" y="4332035"/>
            <a:ext cx="292895" cy="29289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840984" y="5984962"/>
            <a:ext cx="1322341" cy="204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Compare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5840984" y="6247432"/>
            <a:ext cx="1322341" cy="32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Compare options and prices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9340" y="5429142"/>
            <a:ext cx="292895" cy="292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67239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Arquitetura Técnica Proposta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280190" y="2349222"/>
            <a:ext cx="75564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Uma arquitetura robusta e escalável para garantir performance e confiabilidade.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188" y="2905482"/>
            <a:ext cx="6062424" cy="4556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03132" y="5088918"/>
            <a:ext cx="1105617" cy="50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 Flow Overview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1157063" y="6257878"/>
            <a:ext cx="1644802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Back-end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157063" y="6582597"/>
            <a:ext cx="1644802" cy="404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Application logic and API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300887" y="6257878"/>
            <a:ext cx="1644801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300887" y="6582597"/>
            <a:ext cx="1644801" cy="404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Persistent data storage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206503" y="3370240"/>
            <a:ext cx="1689745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Front-end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9206503" y="3694959"/>
            <a:ext cx="1689745" cy="202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User interface layer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6411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Benefícios Esperados: Impacto Positivo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625691"/>
            <a:ext cx="2149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Econômico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06835"/>
            <a:ext cx="21495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Redução de custos na cesta básica, maximizando o poder de compra das famílias.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504367" y="3625691"/>
            <a:ext cx="2149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Social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504367" y="4206835"/>
            <a:ext cx="214955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Maior acesso à informação e empoderamento do consumidor, promovendo inclusão.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14943" y="3625691"/>
            <a:ext cx="2149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Temporal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14943" y="4206835"/>
            <a:ext cx="21495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Otimização do tempo gasto em pesquisas, liberando o consumidor para outras prioridades.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593"/>
            <a:ext cx="1127807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Roadmap de Melhorias: Evolução Contínua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303770" y="1730573"/>
            <a:ext cx="22860" cy="5756315"/>
          </a:xfrm>
          <a:prstGeom prst="roundRect">
            <a:avLst>
              <a:gd name="adj" fmla="val 126512"/>
            </a:avLst>
          </a:prstGeom>
          <a:solidFill>
            <a:srgbClr val="474748"/>
          </a:solidFill>
          <a:ln/>
        </p:spPr>
      </p:sp>
      <p:sp>
        <p:nvSpPr>
          <p:cNvPr id="4" name="Shape 2"/>
          <p:cNvSpPr/>
          <p:nvPr/>
        </p:nvSpPr>
        <p:spPr>
          <a:xfrm>
            <a:off x="6542782" y="1935956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474748"/>
          </a:solidFill>
          <a:ln/>
        </p:spPr>
      </p:sp>
      <p:sp>
        <p:nvSpPr>
          <p:cNvPr id="5" name="Shape 3"/>
          <p:cNvSpPr/>
          <p:nvPr/>
        </p:nvSpPr>
        <p:spPr>
          <a:xfrm>
            <a:off x="7098328" y="1730573"/>
            <a:ext cx="433745" cy="433745"/>
          </a:xfrm>
          <a:prstGeom prst="roundRect">
            <a:avLst>
              <a:gd name="adj" fmla="val 6668"/>
            </a:avLst>
          </a:prstGeom>
          <a:solidFill>
            <a:srgbClr val="2E2E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0539" y="1802725"/>
            <a:ext cx="289203" cy="2892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94415" y="1796772"/>
            <a:ext cx="245685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Fase 1: Protótipo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93790" y="2213610"/>
            <a:ext cx="555748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Desenvolvimento da versão inicial com funcionalidades básicas de busca e comparação.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09212" y="3092648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474748"/>
          </a:solidFill>
          <a:ln/>
        </p:spPr>
      </p:sp>
      <p:sp>
        <p:nvSpPr>
          <p:cNvPr id="10" name="Shape 7"/>
          <p:cNvSpPr/>
          <p:nvPr/>
        </p:nvSpPr>
        <p:spPr>
          <a:xfrm>
            <a:off x="7098328" y="2887266"/>
            <a:ext cx="433745" cy="433745"/>
          </a:xfrm>
          <a:prstGeom prst="roundRect">
            <a:avLst>
              <a:gd name="adj" fmla="val 6668"/>
            </a:avLst>
          </a:prstGeom>
          <a:solidFill>
            <a:srgbClr val="2E2E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0539" y="2959417"/>
            <a:ext cx="289203" cy="2892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79130" y="295346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Fase 2: Testes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8279130" y="3370302"/>
            <a:ext cx="555748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Testes com usuários reais e coleta de feedback para aprimoramento.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542782" y="4089678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474748"/>
          </a:solidFill>
          <a:ln/>
        </p:spPr>
      </p:sp>
      <p:sp>
        <p:nvSpPr>
          <p:cNvPr id="15" name="Shape 11"/>
          <p:cNvSpPr/>
          <p:nvPr/>
        </p:nvSpPr>
        <p:spPr>
          <a:xfrm>
            <a:off x="7098328" y="3884295"/>
            <a:ext cx="433745" cy="433745"/>
          </a:xfrm>
          <a:prstGeom prst="roundRect">
            <a:avLst>
              <a:gd name="adj" fmla="val 6668"/>
            </a:avLst>
          </a:prstGeom>
          <a:solidFill>
            <a:srgbClr val="2E2E2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0539" y="3956447"/>
            <a:ext cx="289203" cy="2892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1186" y="3950494"/>
            <a:ext cx="448008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Fase 3: Inteligência Artificial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793790" y="4367332"/>
            <a:ext cx="555748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Implementação de IA para recomendações personalizadas e análise de tendências.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509212" y="5086707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474748"/>
          </a:solidFill>
          <a:ln/>
        </p:spPr>
      </p:sp>
      <p:sp>
        <p:nvSpPr>
          <p:cNvPr id="20" name="Shape 15"/>
          <p:cNvSpPr/>
          <p:nvPr/>
        </p:nvSpPr>
        <p:spPr>
          <a:xfrm>
            <a:off x="7098328" y="4881324"/>
            <a:ext cx="433745" cy="433745"/>
          </a:xfrm>
          <a:prstGeom prst="roundRect">
            <a:avLst>
              <a:gd name="adj" fmla="val 6668"/>
            </a:avLst>
          </a:prstGeom>
          <a:solidFill>
            <a:srgbClr val="2E2E2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0539" y="4953476"/>
            <a:ext cx="289203" cy="2892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9130" y="494752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Fase 4: Expansão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8279130" y="5364361"/>
            <a:ext cx="555748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Integração com mais varejistas e expansão para outras regiões geográficas.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542782" y="6083737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474748"/>
          </a:solidFill>
          <a:ln/>
        </p:spPr>
      </p:sp>
      <p:sp>
        <p:nvSpPr>
          <p:cNvPr id="25" name="Shape 19"/>
          <p:cNvSpPr/>
          <p:nvPr/>
        </p:nvSpPr>
        <p:spPr>
          <a:xfrm>
            <a:off x="7098328" y="5878354"/>
            <a:ext cx="433745" cy="433745"/>
          </a:xfrm>
          <a:prstGeom prst="roundRect">
            <a:avLst>
              <a:gd name="adj" fmla="val 6668"/>
            </a:avLst>
          </a:prstGeom>
          <a:solidFill>
            <a:srgbClr val="2E2E2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70539" y="5950506"/>
            <a:ext cx="289203" cy="2892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41326" y="594455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Fase 5: Predição</a:t>
            </a:r>
            <a:endParaRPr lang="en-US" sz="1850" dirty="0"/>
          </a:p>
        </p:txBody>
      </p:sp>
      <p:sp>
        <p:nvSpPr>
          <p:cNvPr id="28" name="Text 21"/>
          <p:cNvSpPr/>
          <p:nvPr/>
        </p:nvSpPr>
        <p:spPr>
          <a:xfrm>
            <a:off x="793790" y="6361390"/>
            <a:ext cx="555748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Recursos de previsão de preços para auxiliar no planejamento financeiro.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2025-12-05T18:20:29Z</dcterms:created>
  <dcterms:modified xsi:type="dcterms:W3CDTF">2025-12-05T18:20:29Z</dcterms:modified>
</cp:coreProperties>
</file>